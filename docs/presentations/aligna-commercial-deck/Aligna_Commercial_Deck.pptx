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01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project management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123171">
              <a:alpha val="90000"/>
            </a:srgbClr>
          </a:solidFill>
          <a:ln w="12700">
            <a:solidFill>
              <a:srgbClr val="12317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5156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124712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E8FF"/>
                </a:solidFill>
              </a:rPr>
              <a:t>Comercial deck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Gestão de projetos com IA para reduzir ambiguidade antes e durante a execução.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F"/>
                </a:solidFill>
              </a:rPr>
              <a:t>O Aligna transforma briefing em backlog, requisitos, QA e arquitetura, mantém o board operacional e aplica governança humana nos artefatos críticos.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7091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2295E"/>
          </a:solidFill>
          <a:ln w="12700">
            <a:solidFill>
              <a:srgbClr val="2745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87375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Briefing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4807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Entrada estruturada para o PM Agent gerar stories acionáveis.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47091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2295E"/>
          </a:solidFill>
          <a:ln w="12700">
            <a:solidFill>
              <a:srgbClr val="2745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487375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4912" y="514807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Board, responsáveis, bloqueios, roadmap e visibilidade diária.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47091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2295E"/>
          </a:solidFill>
          <a:ln w="12700">
            <a:solidFill>
              <a:srgbClr val="2745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487375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Governança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514807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QA, arquitetura, observabilidade e aprovação humana.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868680"/>
            <a:ext cx="4434840" cy="5440680"/>
          </a:xfrm>
          <a:prstGeom prst="roundRect">
            <a:avLst>
              <a:gd name="adj" fmla="val 1649"/>
            </a:avLst>
          </a:prstGeom>
          <a:solidFill>
            <a:srgbClr val="F7FAFF"/>
          </a:solidFill>
          <a:ln w="12700">
            <a:solidFill>
              <a:srgbClr val="DCE6FF"/>
            </a:solidFill>
            <a:prstDash val="solid"/>
          </a:ln>
        </p:spPr>
      </p:sp>
      <p:pic>
        <p:nvPicPr>
          <p:cNvPr id="19" name="Image 0" descr="C:\Users\bleao\ai-software-factory\docs\screenshots\projects-board.png">    </p:cNvPr>
          <p:cNvPicPr>
            <a:picLocks noChangeAspect="1"/>
          </p:cNvPicPr>
          <p:nvPr/>
        </p:nvPicPr>
        <p:blipFill>
          <a:blip r:embed="rId1"/>
          <a:srcRect l="15000" r="16264" t="2000" b="22000"/>
          <a:stretch/>
        </p:blipFill>
        <p:spPr>
          <a:xfrm>
            <a:off x="7251192" y="941832"/>
            <a:ext cx="4288536" cy="5029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287768" y="6053328"/>
            <a:ext cx="4215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880"/>
                </a:solidFill>
              </a:rPr>
              <a:t>Board operacional com backlog, progresso e gate de arquitetura.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475720" y="6400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8F4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01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PROBLEMA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9784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 maior parte do retrabalho nasce antes da implementação.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80"/>
                </a:solidFill>
              </a:rPr>
              <a:t>Times ainda perdem velocidade quando pulam do pedido direto para o código sem alinhamento operacional e técnico suficiente.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72491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Requisitos vagos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999232"/>
            <a:ext cx="1911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Stories mal definidas geram decisões implícitas, retrabalho e desalinhamento entre produto, engenharia e QA.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25603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272491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Teste tardio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2999232"/>
            <a:ext cx="1911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Cenários de validação aparecem tarde demais e erros de interpretação vazam para a execução.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5603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272491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Governança fraca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42432" y="2999232"/>
            <a:ext cx="1911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Arquitetura, runtime de IA e aprovações críticas ficam espalhados e sem trilha clara.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01000" y="2560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BD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272491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</a:rPr>
              <a:t>Impacto no negócio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65592" y="2999232"/>
            <a:ext cx="3099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3412"/>
                </a:solidFill>
              </a:rPr>
              <a:t>Mais demora, mais custo de coordenação, mais incerteza e menos previsibilidade de entrega.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 Aligna ataca esse gap antes do desenvolvimento e continua acompanhando o projeto durante a execução.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572000"/>
            <a:ext cx="5394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5B6880"/>
                </a:solidFill>
              </a:rPr>
              <a:t>Transforma briefing em backlog acionável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5B6880"/>
                </a:solidFill>
              </a:rPr>
              <a:t>Refina requisitos e QA por story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5B6880"/>
                </a:solidFill>
              </a:rPr>
              <a:t>Gera arquitetura com gate de aprovação humana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5B6880"/>
                </a:solidFill>
              </a:rPr>
              <a:t>Mantém board, planejamento e governança no mesmo produto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416052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7FAFF"/>
          </a:solidFill>
          <a:ln w="12700">
            <a:solidFill>
              <a:srgbClr val="DCE6FF"/>
            </a:solidFill>
            <a:prstDash val="solid"/>
          </a:ln>
        </p:spPr>
      </p:sp>
      <p:pic>
        <p:nvPicPr>
          <p:cNvPr id="22" name="Image 0" descr="C:\Users\bleao\ai-software-factory\docs\screenshots\project-overview.png">    </p:cNvPr>
          <p:cNvPicPr>
            <a:picLocks noChangeAspect="1"/>
          </p:cNvPicPr>
          <p:nvPr/>
        </p:nvPicPr>
        <p:blipFill>
          <a:blip r:embed="rId1"/>
          <a:srcRect l="12000" r="-146796" t="4000" b="38000"/>
          <a:stretch/>
        </p:blipFill>
        <p:spPr>
          <a:xfrm>
            <a:off x="6611112" y="4233672"/>
            <a:ext cx="4608576" cy="1600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647688" y="5916168"/>
            <a:ext cx="4535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880"/>
                </a:solidFill>
              </a:rPr>
              <a:t>Tela de briefing com gatilho para geração das user stories.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75720" y="6400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B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01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FLUXO DO PRODUTO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9784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 ideia à execução com um fluxo contínuo.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80"/>
                </a:solidFill>
              </a:rPr>
              <a:t>A proposta do Aligna não é só gerar artefatos. É criar um caminho governado do briefing até o handoff técnico.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E7F0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77063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8437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9536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1. Briefing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356616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</a:rPr>
              <a:t>O usuário descreve o problema, objetivo, público, fluxos e riscos.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32304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063240" y="260604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1256" y="277063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28437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91256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2. PM 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91256" y="356616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</a:rPr>
              <a:t>O sistema gera user stories para entrar no board e iniciar o refinamento.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64024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94960" y="260604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2976" y="277063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28437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22976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3. Refinamento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22976" y="356616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</a:rPr>
              <a:t>Requirements e QA evoluem por story, com menos ambiguidade e mais rastreabilidade.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95744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726680" y="260604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4696" y="277063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54696" y="28437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54696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4. Arquitetura + gate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54696" y="356616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</a:rPr>
              <a:t>A arquitetura consolida o projeto e exige aprovação humana antes da implementação.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427464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0058400" y="260604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86416" y="277063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86416" y="28437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186416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5. Code Studio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186416" y="356616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</a:rPr>
              <a:t>O time segue para entrega com contexto técnico já estruturado.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1520" y="525780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422392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Diferencial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6112" y="5696712"/>
            <a:ext cx="10643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O produto junta geração orientada por IA, operação do board e governança técnica no mesmo lugar.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75720" y="6400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01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BRIEFING E BACKLOG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9784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 entrada do projeto já nasce estruturada.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80"/>
                </a:solidFill>
              </a:rPr>
              <a:t>O briefing ajuda o PM Agent a gerar histórias mais úteis, com melhor ponto de partida para refinamento e execução.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7040880" cy="3840480"/>
          </a:xfrm>
          <a:prstGeom prst="roundRect">
            <a:avLst>
              <a:gd name="adj" fmla="val 1905"/>
            </a:avLst>
          </a:prstGeom>
          <a:solidFill>
            <a:srgbClr val="F7FAFF"/>
          </a:solidFill>
          <a:ln w="12700">
            <a:solidFill>
              <a:srgbClr val="DCE6FF"/>
            </a:solidFill>
            <a:prstDash val="solid"/>
          </a:ln>
        </p:spPr>
      </p:sp>
      <p:pic>
        <p:nvPicPr>
          <p:cNvPr id="8" name="Image 0" descr="C:\Users\bleao\ai-software-factory\docs\screenshots\project-overview.png">    </p:cNvPr>
          <p:cNvPicPr>
            <a:picLocks noChangeAspect="1"/>
          </p:cNvPicPr>
          <p:nvPr/>
        </p:nvPicPr>
        <p:blipFill>
          <a:blip r:embed="rId1"/>
          <a:srcRect l="5000" r="-116968" t="2000" b="23000"/>
          <a:stretch/>
        </p:blipFill>
        <p:spPr>
          <a:xfrm>
            <a:off x="804672" y="2587752"/>
            <a:ext cx="6894576" cy="3429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99048"/>
            <a:ext cx="6821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880"/>
                </a:solidFill>
              </a:rPr>
              <a:t>Briefing do projeto com campos orientados a produto e atalho para gerar as user stories.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229600" y="260604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94192" y="277063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Entrada guiada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94192" y="3044952"/>
            <a:ext cx="2596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Problema, objetivo, quem usa, fluxos principais e riscos aparecem como estrutura clara para o início do projeto.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0" y="374904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94192" y="391363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Gate de arquitetura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94192" y="4187952"/>
            <a:ext cx="2596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A tela já indica se o projeto está pronto para seguir para arquitetura e depois para implementação.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505663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Menos ambiguidade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94192" y="5330952"/>
            <a:ext cx="2596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O time começa com um briefing mais legível e menos espaço para decisões implícitas.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75720" y="6400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B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01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EXECUÇÃO OPERACIONAL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9784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Board, planejamento e contexto do projeto no mesmo fluxo.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80"/>
                </a:solidFill>
              </a:rPr>
              <a:t>O Aligna já opera como workspace multi-projetos e traz para o board as peças que mais faltam na gestão do dia a dia.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7315200" cy="3840480"/>
          </a:xfrm>
          <a:prstGeom prst="roundRect">
            <a:avLst>
              <a:gd name="adj" fmla="val 1905"/>
            </a:avLst>
          </a:prstGeom>
          <a:solidFill>
            <a:srgbClr val="F7FAFF"/>
          </a:solidFill>
          <a:ln w="12700">
            <a:solidFill>
              <a:srgbClr val="DCE6FF"/>
            </a:solidFill>
            <a:prstDash val="solid"/>
          </a:ln>
        </p:spPr>
      </p:sp>
      <p:pic>
        <p:nvPicPr>
          <p:cNvPr id="8" name="Image 0" descr="C:\Users\bleao\ai-software-factory\docs\screenshots\projects-board.png">    </p:cNvPr>
          <p:cNvPicPr>
            <a:picLocks noChangeAspect="1"/>
          </p:cNvPicPr>
          <p:nvPr/>
        </p:nvPicPr>
        <p:blipFill>
          <a:blip r:embed="rId1"/>
          <a:srcRect l="0" r="-81828" t="0" b="18000"/>
          <a:stretch/>
        </p:blipFill>
        <p:spPr>
          <a:xfrm>
            <a:off x="804672" y="2587752"/>
            <a:ext cx="7168896" cy="3429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99048"/>
            <a:ext cx="7095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880"/>
                </a:solidFill>
              </a:rPr>
              <a:t>Board operacional com catálogo, projeto ativo, gate de arquitetura e colunas de execução.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412480" y="26974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Workspace com múltiplos projetos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Board por projeto com backlog e execução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Bloqueios, responsáveis, prazos e contexto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Aprovação de arquitetura antes do handoff técnico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Planejamento e governança conectados à operação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0" y="5303520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94192" y="546811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Posicionamento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94192" y="57424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Não é só um gerador de artefatos. É uma plataforma de gestão de projetos assistida por IA.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75720" y="6400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B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01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GOVERNANÇA E RUNTIME DE 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9784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Controle sobre providers, fallback, métricas e políticas.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80"/>
                </a:solidFill>
              </a:rPr>
              <a:t>A IA entra como draft engine, mas o produto mantém governança, observabilidade e trilha de decisão para os pontos críticos.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7040880" cy="3840480"/>
          </a:xfrm>
          <a:prstGeom prst="roundRect">
            <a:avLst>
              <a:gd name="adj" fmla="val 1905"/>
            </a:avLst>
          </a:prstGeom>
          <a:solidFill>
            <a:srgbClr val="F7FAFF"/>
          </a:solidFill>
          <a:ln w="12700">
            <a:solidFill>
              <a:srgbClr val="DCE6FF"/>
            </a:solidFill>
            <a:prstDash val="solid"/>
          </a:ln>
        </p:spPr>
      </p:sp>
      <p:pic>
        <p:nvPicPr>
          <p:cNvPr id="8" name="Image 0" descr="C:\Users\bleao\ai-software-factory\docs\screenshots\ai-governance.png">    </p:cNvPr>
          <p:cNvPicPr>
            <a:picLocks noChangeAspect="1"/>
          </p:cNvPicPr>
          <p:nvPr/>
        </p:nvPicPr>
        <p:blipFill>
          <a:blip r:embed="rId1"/>
          <a:srcRect l="0" r="-338256" t="0" b="5000"/>
          <a:stretch/>
        </p:blipFill>
        <p:spPr>
          <a:xfrm>
            <a:off x="804672" y="2587752"/>
            <a:ext cx="6894576" cy="3429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99048"/>
            <a:ext cx="6821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880"/>
                </a:solidFill>
              </a:rPr>
              <a:t>Governança de IA com policy, provider preferencial, fallback e configuração operacional.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229600" y="260604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94192" y="277063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Provider policy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94192" y="3044952"/>
            <a:ext cx="2551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Preferência por NVIDIA, Ollama e outros providers com regras parametrizadas no sistema.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0" y="374904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94192" y="391363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Human approval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94192" y="4187952"/>
            <a:ext cx="2551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Arquitetura e exportação final podem exigir aprovação humana antes de liberar a próxima etapa.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505663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Operação visível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94192" y="5330952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</a:rPr>
              <a:t>Sucesso, custo estimado, runs travados, budget e saúde operacional passam a fazer parte da governança do produto.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75720" y="6400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B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01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POR QUE AGORA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0698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 melhor uso de IA em software não é pular a gestão. É reforçar a clareza antes do código.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76479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80"/>
                </a:solidFill>
              </a:rPr>
              <a:t>O Aligna posiciona a IA como acelerador de alinhamento, não como substituto de responsabilidade.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2295E"/>
          </a:solidFill>
          <a:ln w="12700">
            <a:solidFill>
              <a:srgbClr val="2847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99923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AB3"/>
                </a:solidFill>
              </a:rPr>
              <a:t>Antes do Aligna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273552"/>
            <a:ext cx="31912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Briefing solto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Stories frágeis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QA tardio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Arquitetura quebrando depois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Governança espalhada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28346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23A6C"/>
          </a:solidFill>
          <a:ln w="12700">
            <a:solidFill>
              <a:srgbClr val="2E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99923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F6E8"/>
                </a:solidFill>
              </a:rPr>
              <a:t>Com o Aligna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0872" y="3273552"/>
            <a:ext cx="31912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1EDFF"/>
                </a:solidFill>
              </a:rPr>
              <a:t>Briefing estruturado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1EDFF"/>
                </a:solidFill>
              </a:rPr>
              <a:t>Backlog acionável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1EDFF"/>
                </a:solidFill>
              </a:rPr>
              <a:t>Requirements e QA por 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1EDFF"/>
                </a:solidFill>
              </a:rPr>
              <a:t>Gate de arquitetura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1EDFF"/>
                </a:solidFill>
              </a:rPr>
              <a:t>Workspace, board e governança conectados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75320" y="2834640"/>
            <a:ext cx="2880360" cy="2194560"/>
          </a:xfrm>
          <a:prstGeom prst="roundRect">
            <a:avLst>
              <a:gd name="adj" fmla="val 3333"/>
            </a:avLst>
          </a:prstGeom>
          <a:solidFill>
            <a:srgbClr val="132248"/>
          </a:solidFill>
          <a:ln w="12700">
            <a:solidFill>
              <a:srgbClr val="2B46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299923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Fit comercial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39912" y="3273552"/>
            <a:ext cx="25511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Discovery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Squads de produto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Software consultivo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Times internos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Pré-venda técnica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C0FF"/>
                </a:solidFill>
              </a:rPr>
              <a:t>Próximo passo sugerido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74243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Apresentar o produto como plataforma de gestão de projetos assistida por IA, com governança e execução no mesmo fluxo.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75320" y="562356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569671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EEFF"/>
                </a:solidFill>
              </a:rPr>
              <a:t>aligna.ai / product workspace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75720" y="6400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8F4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Aligna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Aligna - AI-assisted project management</dc:title>
  <dc:subject>Apresentacao comercial do produto Aligna</dc:subject>
  <dc:creator>OpenAI Codex</dc:creator>
  <cp:lastModifiedBy>OpenAI Codex</cp:lastModifiedBy>
  <cp:revision>1</cp:revision>
  <dcterms:created xsi:type="dcterms:W3CDTF">2026-03-26T15:07:13Z</dcterms:created>
  <dcterms:modified xsi:type="dcterms:W3CDTF">2026-03-26T15:07:13Z</dcterms:modified>
</cp:coreProperties>
</file>